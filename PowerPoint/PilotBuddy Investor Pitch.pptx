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4" r:id="rId8"/>
    <p:sldId id="265"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0741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PilotBuddy in one sentence. It is a native Android app for student and general aviation pilots that combines a turn calculator, a wind calculator, and an airport lookup, and it works without a signal.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pain points. Note that this is my working problem statement and I plan to test it with real pilots.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tool answers one quick question a pilot has. The calculator inputs and outputs are my current plan and may be refined during development.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pilots are the largest single group and the clearest target audience. The 66 percent figure is my own calculation from 222,629 in 2020 and 370,286 in 2025. Full citation is on the last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screens: home, turn calculator, wind calculator, and airport search. Airport names here are placeholders, not real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tables linked by keys avoid duplicated airport data. My background with relational databases shaped this design.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testers and feedback. Replace the bracketed line with a real request, or delete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 7 references for the figures and course materials used in this deck.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B2D"/>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F3F1EA"/>
                </a:solidFill>
                <a:latin typeface="Rubik" pitchFamily="34" charset="0"/>
                <a:ea typeface="Rubik" pitchFamily="34" charset="-122"/>
                <a:cs typeface="Rubi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F3F1EA"/>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F3F1EA"/>
                </a:solidFill>
                <a:latin typeface="Rubik" pitchFamily="34" charset="0"/>
                <a:ea typeface="Rubik" pitchFamily="34" charset="-122"/>
                <a:cs typeface="Rubi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F3F1EA"/>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1826915"/>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E8A33D"/>
                </a:solidFill>
                <a:latin typeface="DM Sans" pitchFamily="34" charset="0"/>
                <a:ea typeface="DM Sans" pitchFamily="34" charset="-122"/>
                <a:cs typeface="DM Sans" pitchFamily="34" charset="-120"/>
              </a:rPr>
              <a:t>COM 437 MOBILE APPLICATION DEVELOPMENT</a:t>
            </a:r>
            <a:endParaRPr lang="en-US" sz="1400" dirty="0"/>
          </a:p>
        </p:txBody>
      </p:sp>
      <p:sp>
        <p:nvSpPr>
          <p:cNvPr id="3" name="Text 1"/>
          <p:cNvSpPr>
            <a:spLocks noGrp="1"/>
          </p:cNvSpPr>
          <p:nvPr>
            <p:ph type="title"/>
          </p:nvPr>
        </p:nvSpPr>
        <p:spPr>
          <a:xfrm>
            <a:off x="812800" y="2304355"/>
            <a:ext cx="10883392" cy="1145480"/>
          </a:xfrm>
          <a:prstGeom prst="rect">
            <a:avLst/>
          </a:prstGeom>
          <a:noFill/>
          <a:ln/>
        </p:spPr>
        <p:txBody>
          <a:bodyPr wrap="square" lIns="0" tIns="0" rIns="0" bIns="0" rtlCol="0" anchor="t">
            <a:normAutofit/>
          </a:bodyPr>
          <a:lstStyle/>
          <a:p>
            <a:pPr marL="0" indent="0" algn="l">
              <a:lnSpc>
                <a:spcPts val="8820"/>
              </a:lnSpc>
              <a:buNone/>
            </a:pPr>
            <a:r>
              <a:rPr lang="en-US" sz="8400" b="1" i="0" dirty="0">
                <a:solidFill>
                  <a:srgbClr val="F3F1EA"/>
                </a:solidFill>
                <a:latin typeface="Rubik" pitchFamily="34" charset="0"/>
                <a:ea typeface="Rubik" pitchFamily="34" charset="-122"/>
                <a:cs typeface="Rubik" pitchFamily="34" charset="-120"/>
              </a:rPr>
              <a:t>PilotBuddy</a:t>
            </a:r>
            <a:endParaRPr lang="en-US" sz="8400" dirty="0"/>
          </a:p>
        </p:txBody>
      </p:sp>
      <p:sp>
        <p:nvSpPr>
          <p:cNvPr id="4" name="Text 2"/>
          <p:cNvSpPr/>
          <p:nvPr/>
        </p:nvSpPr>
        <p:spPr>
          <a:xfrm>
            <a:off x="812800" y="3653036"/>
            <a:ext cx="8502650" cy="438150"/>
          </a:xfrm>
          <a:prstGeom prst="rect">
            <a:avLst/>
          </a:prstGeom>
          <a:noFill/>
          <a:ln/>
        </p:spPr>
        <p:txBody>
          <a:bodyPr wrap="square" lIns="0" tIns="0" rIns="0" bIns="0" rtlCol="0" anchor="t">
            <a:normAutofit/>
          </a:bodyPr>
          <a:lstStyle/>
          <a:p>
            <a:pPr marL="0" indent="0" algn="l">
              <a:lnSpc>
                <a:spcPts val="3250"/>
              </a:lnSpc>
              <a:buNone/>
            </a:pPr>
            <a:r>
              <a:rPr lang="en-US" sz="2600" dirty="0">
                <a:solidFill>
                  <a:srgbClr val="C9D3E0"/>
                </a:solidFill>
                <a:latin typeface="DM Sans" pitchFamily="34" charset="0"/>
                <a:ea typeface="DM Sans" pitchFamily="34" charset="-122"/>
                <a:cs typeface="DM Sans" pitchFamily="34" charset="-120"/>
              </a:rPr>
              <a:t>Three cockpit tools in one offline Android app.</a:t>
            </a:r>
            <a:endParaRPr lang="en-US" sz="2600" dirty="0"/>
          </a:p>
        </p:txBody>
      </p:sp>
      <p:pic>
        <p:nvPicPr>
          <p:cNvPr id="5" name="Image 0" descr="line"/>
          <p:cNvPicPr>
            <a:picLocks noChangeAspect="1"/>
          </p:cNvPicPr>
          <p:nvPr/>
        </p:nvPicPr>
        <p:blipFill>
          <a:blip r:embed="rId3"/>
          <a:srcRect/>
          <a:stretch/>
        </p:blipFill>
        <p:spPr>
          <a:xfrm>
            <a:off x="812800" y="4294386"/>
            <a:ext cx="1016000" cy="38100"/>
          </a:xfrm>
          <a:prstGeom prst="rect">
            <a:avLst/>
          </a:prstGeom>
        </p:spPr>
      </p:pic>
      <p:sp>
        <p:nvSpPr>
          <p:cNvPr id="6" name="Text 3"/>
          <p:cNvSpPr/>
          <p:nvPr/>
        </p:nvSpPr>
        <p:spPr>
          <a:xfrm>
            <a:off x="812800" y="4561086"/>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0"/>
                </a:solidFill>
                <a:latin typeface="DM Sans" pitchFamily="34" charset="0"/>
                <a:ea typeface="DM Sans" pitchFamily="34" charset="-122"/>
                <a:cs typeface="DM Sans" pitchFamily="34" charset="-120"/>
              </a:rPr>
              <a:t>Chris Gonzalez, Saint Leo University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Pilots juggle too many tools</a:t>
            </a:r>
            <a:endParaRPr lang="en-US" sz="3600" dirty="0"/>
          </a:p>
        </p:txBody>
      </p:sp>
      <p:sp>
        <p:nvSpPr>
          <p:cNvPr id="3" name="Shape 1"/>
          <p:cNvSpPr/>
          <p:nvPr/>
        </p:nvSpPr>
        <p:spPr>
          <a:xfrm>
            <a:off x="815975" y="1674416"/>
            <a:ext cx="3380284" cy="1797050"/>
          </a:xfrm>
          <a:prstGeom prst="roundRect">
            <a:avLst>
              <a:gd name="adj" fmla="val 5477"/>
            </a:avLst>
          </a:prstGeom>
          <a:solidFill>
            <a:srgbClr val="FFFDF8"/>
          </a:solidFill>
          <a:ln w="6350">
            <a:solidFill>
              <a:srgbClr val="D9D5C8"/>
            </a:solidFill>
            <a:prstDash val="solid"/>
          </a:ln>
        </p:spPr>
        <p:txBody>
          <a:bodyPr/>
          <a:lstStyle/>
          <a:p>
            <a:endParaRPr lang="en-US"/>
          </a:p>
        </p:txBody>
      </p:sp>
      <p:sp>
        <p:nvSpPr>
          <p:cNvPr id="4" name="Text 2"/>
          <p:cNvSpPr/>
          <p:nvPr/>
        </p:nvSpPr>
        <p:spPr>
          <a:xfrm>
            <a:off x="1098550" y="1956991"/>
            <a:ext cx="289958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Rubik" pitchFamily="34" charset="0"/>
                <a:ea typeface="Rubik" pitchFamily="34" charset="-122"/>
                <a:cs typeface="Rubik" pitchFamily="34" charset="-120"/>
              </a:rPr>
              <a:t>Scattered tools</a:t>
            </a:r>
            <a:endParaRPr lang="en-US" sz="2000" dirty="0"/>
          </a:p>
        </p:txBody>
      </p:sp>
      <p:sp>
        <p:nvSpPr>
          <p:cNvPr id="5" name="Text 3"/>
          <p:cNvSpPr/>
          <p:nvPr/>
        </p:nvSpPr>
        <p:spPr>
          <a:xfrm>
            <a:off x="1098550" y="2388791"/>
            <a:ext cx="2899588"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DM Sans" pitchFamily="34" charset="0"/>
                <a:ea typeface="DM Sans" pitchFamily="34" charset="-122"/>
                <a:cs typeface="DM Sans" pitchFamily="34" charset="-120"/>
              </a:rPr>
              <a:t>Calculators, charts, and airport details live in separate apps and on paper.</a:t>
            </a:r>
            <a:endParaRPr lang="en-US" sz="1500" dirty="0"/>
          </a:p>
        </p:txBody>
      </p:sp>
      <p:sp>
        <p:nvSpPr>
          <p:cNvPr id="6" name="Shape 4"/>
          <p:cNvSpPr/>
          <p:nvPr/>
        </p:nvSpPr>
        <p:spPr>
          <a:xfrm>
            <a:off x="4405809" y="1674416"/>
            <a:ext cx="3380383" cy="1797050"/>
          </a:xfrm>
          <a:prstGeom prst="roundRect">
            <a:avLst>
              <a:gd name="adj" fmla="val 5477"/>
            </a:avLst>
          </a:prstGeom>
          <a:solidFill>
            <a:srgbClr val="FFFDF8"/>
          </a:solidFill>
          <a:ln w="6350">
            <a:solidFill>
              <a:srgbClr val="D9D5C8"/>
            </a:solidFill>
            <a:prstDash val="solid"/>
          </a:ln>
        </p:spPr>
        <p:txBody>
          <a:bodyPr/>
          <a:lstStyle/>
          <a:p>
            <a:endParaRPr lang="en-US"/>
          </a:p>
        </p:txBody>
      </p:sp>
      <p:sp>
        <p:nvSpPr>
          <p:cNvPr id="7" name="Text 5"/>
          <p:cNvSpPr/>
          <p:nvPr/>
        </p:nvSpPr>
        <p:spPr>
          <a:xfrm>
            <a:off x="4688384" y="1956991"/>
            <a:ext cx="289969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Rubik" pitchFamily="34" charset="0"/>
                <a:ea typeface="Rubik" pitchFamily="34" charset="-122"/>
                <a:cs typeface="Rubik" pitchFamily="34" charset="-120"/>
              </a:rPr>
              <a:t>Math under pressure</a:t>
            </a:r>
            <a:endParaRPr lang="en-US" sz="2000" dirty="0"/>
          </a:p>
        </p:txBody>
      </p:sp>
      <p:sp>
        <p:nvSpPr>
          <p:cNvPr id="8" name="Text 6"/>
          <p:cNvSpPr/>
          <p:nvPr/>
        </p:nvSpPr>
        <p:spPr>
          <a:xfrm>
            <a:off x="4688384" y="2388791"/>
            <a:ext cx="2899690"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DM Sans" pitchFamily="34" charset="0"/>
                <a:ea typeface="DM Sans" pitchFamily="34" charset="-122"/>
                <a:cs typeface="DM Sans" pitchFamily="34" charset="-120"/>
              </a:rPr>
              <a:t>Switching tools costs attention, especially for students still building workload habits.</a:t>
            </a:r>
            <a:endParaRPr lang="en-US" sz="1500" dirty="0"/>
          </a:p>
        </p:txBody>
      </p:sp>
      <p:sp>
        <p:nvSpPr>
          <p:cNvPr id="9" name="Shape 7"/>
          <p:cNvSpPr/>
          <p:nvPr/>
        </p:nvSpPr>
        <p:spPr>
          <a:xfrm>
            <a:off x="7995741" y="1674416"/>
            <a:ext cx="3380284" cy="1797050"/>
          </a:xfrm>
          <a:prstGeom prst="roundRect">
            <a:avLst>
              <a:gd name="adj" fmla="val 5477"/>
            </a:avLst>
          </a:prstGeom>
          <a:solidFill>
            <a:srgbClr val="FFFDF8"/>
          </a:solidFill>
          <a:ln w="6350">
            <a:solidFill>
              <a:srgbClr val="D9D5C8"/>
            </a:solidFill>
            <a:prstDash val="solid"/>
          </a:ln>
        </p:spPr>
        <p:txBody>
          <a:bodyPr/>
          <a:lstStyle/>
          <a:p>
            <a:endParaRPr lang="en-US"/>
          </a:p>
        </p:txBody>
      </p:sp>
      <p:sp>
        <p:nvSpPr>
          <p:cNvPr id="10" name="Text 8"/>
          <p:cNvSpPr/>
          <p:nvPr/>
        </p:nvSpPr>
        <p:spPr>
          <a:xfrm>
            <a:off x="8278316" y="1956991"/>
            <a:ext cx="289958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Rubik" pitchFamily="34" charset="0"/>
                <a:ea typeface="Rubik" pitchFamily="34" charset="-122"/>
                <a:cs typeface="Rubik" pitchFamily="34" charset="-120"/>
              </a:rPr>
              <a:t>Weak connectivity</a:t>
            </a:r>
            <a:endParaRPr lang="en-US" sz="2000" dirty="0"/>
          </a:p>
        </p:txBody>
      </p:sp>
      <p:sp>
        <p:nvSpPr>
          <p:cNvPr id="11" name="Text 9"/>
          <p:cNvSpPr/>
          <p:nvPr/>
        </p:nvSpPr>
        <p:spPr>
          <a:xfrm>
            <a:off x="8278316" y="2388791"/>
            <a:ext cx="2899588"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DM Sans" pitchFamily="34" charset="0"/>
                <a:ea typeface="DM Sans" pitchFamily="34" charset="-122"/>
                <a:cs typeface="DM Sans" pitchFamily="34" charset="-120"/>
              </a:rPr>
              <a:t>Cockpits and small airfields often have little or no signal, so cloud tools fall short.</a:t>
            </a:r>
            <a:endParaRPr lang="en-US" sz="15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Working problem statement, to be validated with feedback from student and general aviation pilots.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1EA"/>
                </a:solidFill>
                <a:latin typeface="Rubik" pitchFamily="34" charset="0"/>
                <a:ea typeface="Rubik" pitchFamily="34" charset="-122"/>
                <a:cs typeface="Rubik" pitchFamily="34" charset="-120"/>
              </a:rPr>
              <a:t>One app, three tools</a:t>
            </a:r>
            <a:endParaRPr lang="en-US" sz="3600" dirty="0"/>
          </a:p>
        </p:txBody>
      </p:sp>
      <p:sp>
        <p:nvSpPr>
          <p:cNvPr id="3" name="Shape 1"/>
          <p:cNvSpPr/>
          <p:nvPr/>
        </p:nvSpPr>
        <p:spPr>
          <a:xfrm>
            <a:off x="815975" y="1674416"/>
            <a:ext cx="3380284" cy="2330450"/>
          </a:xfrm>
          <a:prstGeom prst="roundRect">
            <a:avLst>
              <a:gd name="adj" fmla="val 4223"/>
            </a:avLst>
          </a:prstGeom>
          <a:solidFill>
            <a:srgbClr val="17283F"/>
          </a:solidFill>
          <a:ln w="6350">
            <a:solidFill>
              <a:srgbClr val="2B4262"/>
            </a:solidFill>
            <a:prstDash val="solid"/>
          </a:ln>
        </p:spPr>
        <p:txBody>
          <a:bodyPr/>
          <a:lstStyle/>
          <a:p>
            <a:endParaRPr lang="en-US"/>
          </a:p>
        </p:txBody>
      </p:sp>
      <p:pic>
        <p:nvPicPr>
          <p:cNvPr id="4" name="Image 0" descr="Wrench"/>
          <p:cNvPicPr>
            <a:picLocks noChangeAspect="1"/>
          </p:cNvPicPr>
          <p:nvPr/>
        </p:nvPicPr>
        <p:blipFill>
          <a:blip r:embed="rId3"/>
          <a:srcRect/>
          <a:stretch/>
        </p:blipFill>
        <p:spPr>
          <a:xfrm>
            <a:off x="1098550" y="1956991"/>
            <a:ext cx="406400" cy="406400"/>
          </a:xfrm>
          <a:prstGeom prst="rect">
            <a:avLst/>
          </a:prstGeom>
        </p:spPr>
      </p:pic>
      <p:sp>
        <p:nvSpPr>
          <p:cNvPr id="5" name="Text 2"/>
          <p:cNvSpPr/>
          <p:nvPr/>
        </p:nvSpPr>
        <p:spPr>
          <a:xfrm>
            <a:off x="1098550" y="2490391"/>
            <a:ext cx="289958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3F1EA"/>
                </a:solidFill>
                <a:latin typeface="Rubik" pitchFamily="34" charset="0"/>
                <a:ea typeface="Rubik" pitchFamily="34" charset="-122"/>
                <a:cs typeface="Rubik" pitchFamily="34" charset="-120"/>
              </a:rPr>
              <a:t>Turn Calculator</a:t>
            </a:r>
            <a:endParaRPr lang="en-US" sz="2000" dirty="0"/>
          </a:p>
        </p:txBody>
      </p:sp>
      <p:sp>
        <p:nvSpPr>
          <p:cNvPr id="6" name="Text 3"/>
          <p:cNvSpPr/>
          <p:nvPr/>
        </p:nvSpPr>
        <p:spPr>
          <a:xfrm>
            <a:off x="1098550" y="2922191"/>
            <a:ext cx="289958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0"/>
                </a:solidFill>
                <a:latin typeface="DM Sans" pitchFamily="34" charset="0"/>
                <a:ea typeface="DM Sans" pitchFamily="34" charset="-122"/>
                <a:cs typeface="DM Sans" pitchFamily="34" charset="-120"/>
              </a:rPr>
              <a:t>Enter airspeed and bank angle to get turn rate and radius.</a:t>
            </a:r>
            <a:endParaRPr lang="en-US" sz="1500" dirty="0"/>
          </a:p>
        </p:txBody>
      </p:sp>
      <p:sp>
        <p:nvSpPr>
          <p:cNvPr id="7" name="Shape 4"/>
          <p:cNvSpPr/>
          <p:nvPr/>
        </p:nvSpPr>
        <p:spPr>
          <a:xfrm>
            <a:off x="4405809" y="1674416"/>
            <a:ext cx="3380383" cy="2330450"/>
          </a:xfrm>
          <a:prstGeom prst="roundRect">
            <a:avLst>
              <a:gd name="adj" fmla="val 4223"/>
            </a:avLst>
          </a:prstGeom>
          <a:solidFill>
            <a:srgbClr val="17283F"/>
          </a:solidFill>
          <a:ln w="6350">
            <a:solidFill>
              <a:srgbClr val="2B4262"/>
            </a:solidFill>
            <a:prstDash val="solid"/>
          </a:ln>
        </p:spPr>
        <p:txBody>
          <a:bodyPr/>
          <a:lstStyle/>
          <a:p>
            <a:endParaRPr lang="en-US"/>
          </a:p>
        </p:txBody>
      </p:sp>
      <p:pic>
        <p:nvPicPr>
          <p:cNvPr id="8" name="Image 1" descr="Cloud"/>
          <p:cNvPicPr>
            <a:picLocks noChangeAspect="1"/>
          </p:cNvPicPr>
          <p:nvPr/>
        </p:nvPicPr>
        <p:blipFill>
          <a:blip r:embed="rId4"/>
          <a:srcRect/>
          <a:stretch/>
        </p:blipFill>
        <p:spPr>
          <a:xfrm>
            <a:off x="4688384" y="1956991"/>
            <a:ext cx="406400" cy="406400"/>
          </a:xfrm>
          <a:prstGeom prst="rect">
            <a:avLst/>
          </a:prstGeom>
        </p:spPr>
      </p:pic>
      <p:sp>
        <p:nvSpPr>
          <p:cNvPr id="9" name="Text 5"/>
          <p:cNvSpPr/>
          <p:nvPr/>
        </p:nvSpPr>
        <p:spPr>
          <a:xfrm>
            <a:off x="4688384" y="2490391"/>
            <a:ext cx="289969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3F1EA"/>
                </a:solidFill>
                <a:latin typeface="Rubik" pitchFamily="34" charset="0"/>
                <a:ea typeface="Rubik" pitchFamily="34" charset="-122"/>
                <a:cs typeface="Rubik" pitchFamily="34" charset="-120"/>
              </a:rPr>
              <a:t>Wind Calculator</a:t>
            </a:r>
            <a:endParaRPr lang="en-US" sz="2000" dirty="0"/>
          </a:p>
        </p:txBody>
      </p:sp>
      <p:sp>
        <p:nvSpPr>
          <p:cNvPr id="10" name="Text 6"/>
          <p:cNvSpPr/>
          <p:nvPr/>
        </p:nvSpPr>
        <p:spPr>
          <a:xfrm>
            <a:off x="4688384" y="2922191"/>
            <a:ext cx="2899690"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0"/>
                </a:solidFill>
                <a:latin typeface="DM Sans" pitchFamily="34" charset="0"/>
                <a:ea typeface="DM Sans" pitchFamily="34" charset="-122"/>
                <a:cs typeface="DM Sans" pitchFamily="34" charset="-120"/>
              </a:rPr>
              <a:t>Enter heading and wind to get headwind and crosswind components.</a:t>
            </a:r>
            <a:endParaRPr lang="en-US" sz="1500" dirty="0"/>
          </a:p>
        </p:txBody>
      </p:sp>
      <p:sp>
        <p:nvSpPr>
          <p:cNvPr id="11" name="Shape 7"/>
          <p:cNvSpPr/>
          <p:nvPr/>
        </p:nvSpPr>
        <p:spPr>
          <a:xfrm>
            <a:off x="7995741" y="1674416"/>
            <a:ext cx="3380284" cy="2330450"/>
          </a:xfrm>
          <a:prstGeom prst="roundRect">
            <a:avLst>
              <a:gd name="adj" fmla="val 4223"/>
            </a:avLst>
          </a:prstGeom>
          <a:solidFill>
            <a:srgbClr val="17283F"/>
          </a:solidFill>
          <a:ln w="6350">
            <a:solidFill>
              <a:srgbClr val="2B4262"/>
            </a:solidFill>
            <a:prstDash val="solid"/>
          </a:ln>
        </p:spPr>
        <p:txBody>
          <a:bodyPr/>
          <a:lstStyle/>
          <a:p>
            <a:endParaRPr lang="en-US"/>
          </a:p>
        </p:txBody>
      </p:sp>
      <p:pic>
        <p:nvPicPr>
          <p:cNvPr id="12" name="Image 2" descr="Database"/>
          <p:cNvPicPr>
            <a:picLocks noChangeAspect="1"/>
          </p:cNvPicPr>
          <p:nvPr/>
        </p:nvPicPr>
        <p:blipFill>
          <a:blip r:embed="rId5"/>
          <a:srcRect/>
          <a:stretch/>
        </p:blipFill>
        <p:spPr>
          <a:xfrm>
            <a:off x="8278316" y="1956991"/>
            <a:ext cx="406400" cy="406400"/>
          </a:xfrm>
          <a:prstGeom prst="rect">
            <a:avLst/>
          </a:prstGeom>
        </p:spPr>
      </p:pic>
      <p:sp>
        <p:nvSpPr>
          <p:cNvPr id="13" name="Text 8"/>
          <p:cNvSpPr/>
          <p:nvPr/>
        </p:nvSpPr>
        <p:spPr>
          <a:xfrm>
            <a:off x="8278316" y="2490391"/>
            <a:ext cx="289958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3F1EA"/>
                </a:solidFill>
                <a:latin typeface="Rubik" pitchFamily="34" charset="0"/>
                <a:ea typeface="Rubik" pitchFamily="34" charset="-122"/>
                <a:cs typeface="Rubik" pitchFamily="34" charset="-120"/>
              </a:rPr>
              <a:t>Airport Info</a:t>
            </a:r>
            <a:endParaRPr lang="en-US" sz="2000" dirty="0"/>
          </a:p>
        </p:txBody>
      </p:sp>
      <p:sp>
        <p:nvSpPr>
          <p:cNvPr id="14" name="Text 9"/>
          <p:cNvSpPr/>
          <p:nvPr/>
        </p:nvSpPr>
        <p:spPr>
          <a:xfrm>
            <a:off x="8278316" y="2922191"/>
            <a:ext cx="2899588"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0"/>
                </a:solidFill>
                <a:latin typeface="DM Sans" pitchFamily="34" charset="0"/>
                <a:ea typeface="DM Sans" pitchFamily="34" charset="-122"/>
                <a:cs typeface="DM Sans" pitchFamily="34" charset="-120"/>
              </a:rPr>
              <a:t>Search an airport to see its runways and frequencies from a local database.</a:t>
            </a:r>
            <a:endParaRPr lang="en-US" sz="1500" dirty="0"/>
          </a:p>
        </p:txBody>
      </p:sp>
      <p:sp>
        <p:nvSpPr>
          <p:cNvPr id="15"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DM Sans" pitchFamily="34" charset="0"/>
                <a:ea typeface="DM Sans" pitchFamily="34" charset="-122"/>
                <a:cs typeface="DM Sans" pitchFamily="34" charset="-120"/>
              </a:rPr>
              <a:t>All data stays on the device, so every tool works offline.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A growing pilot population</a:t>
            </a:r>
            <a:endParaRPr lang="en-US" sz="3600" dirty="0"/>
          </a:p>
        </p:txBody>
      </p:sp>
      <p:sp>
        <p:nvSpPr>
          <p:cNvPr id="3" name="Shape 1"/>
          <p:cNvSpPr/>
          <p:nvPr/>
        </p:nvSpPr>
        <p:spPr>
          <a:xfrm>
            <a:off x="812800" y="1671241"/>
            <a:ext cx="3378200" cy="1866801"/>
          </a:xfrm>
          <a:prstGeom prst="roundRect">
            <a:avLst>
              <a:gd name="adj" fmla="val 5442"/>
            </a:avLst>
          </a:prstGeom>
          <a:solidFill>
            <a:srgbClr val="14213D"/>
          </a:solidFill>
          <a:ln/>
        </p:spPr>
        <p:txBody>
          <a:bodyPr/>
          <a:lstStyle/>
          <a:p>
            <a:endParaRPr lang="en-US"/>
          </a:p>
        </p:txBody>
      </p:sp>
      <p:sp>
        <p:nvSpPr>
          <p:cNvPr id="4" name="Text 2"/>
          <p:cNvSpPr/>
          <p:nvPr/>
        </p:nvSpPr>
        <p:spPr>
          <a:xfrm>
            <a:off x="1117600" y="1976041"/>
            <a:ext cx="2851658" cy="66546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E8A33D"/>
                </a:solidFill>
                <a:latin typeface="Rubik" pitchFamily="34" charset="0"/>
                <a:ea typeface="Rubik" pitchFamily="34" charset="-122"/>
                <a:cs typeface="Rubik" pitchFamily="34" charset="-120"/>
              </a:rPr>
              <a:t>370,286</a:t>
            </a:r>
            <a:endParaRPr lang="en-US" sz="4800" dirty="0"/>
          </a:p>
        </p:txBody>
      </p:sp>
      <p:sp>
        <p:nvSpPr>
          <p:cNvPr id="5" name="Text 3"/>
          <p:cNvSpPr/>
          <p:nvPr/>
        </p:nvSpPr>
        <p:spPr>
          <a:xfrm>
            <a:off x="1117600" y="2692301"/>
            <a:ext cx="2851658"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3F1EA"/>
                </a:solidFill>
                <a:latin typeface="DM Sans" pitchFamily="34" charset="0"/>
                <a:ea typeface="DM Sans" pitchFamily="34" charset="-122"/>
                <a:cs typeface="DM Sans" pitchFamily="34" charset="-120"/>
              </a:rPr>
              <a:t>active student pilots in the U.S. at the end of 2025</a:t>
            </a:r>
            <a:endParaRPr lang="en-US" sz="1600" dirty="0"/>
          </a:p>
        </p:txBody>
      </p:sp>
      <p:sp>
        <p:nvSpPr>
          <p:cNvPr id="6" name="Shape 4"/>
          <p:cNvSpPr/>
          <p:nvPr/>
        </p:nvSpPr>
        <p:spPr>
          <a:xfrm>
            <a:off x="4397375" y="1674416"/>
            <a:ext cx="3384550" cy="1860451"/>
          </a:xfrm>
          <a:prstGeom prst="roundRect">
            <a:avLst>
              <a:gd name="adj" fmla="val 5290"/>
            </a:avLst>
          </a:prstGeom>
          <a:solidFill>
            <a:srgbClr val="FFFDF8"/>
          </a:solidFill>
          <a:ln w="6350">
            <a:solidFill>
              <a:srgbClr val="D9D5C8"/>
            </a:solidFill>
            <a:prstDash val="solid"/>
          </a:ln>
        </p:spPr>
        <p:txBody>
          <a:bodyPr/>
          <a:lstStyle/>
          <a:p>
            <a:endParaRPr lang="en-US"/>
          </a:p>
        </p:txBody>
      </p:sp>
      <p:sp>
        <p:nvSpPr>
          <p:cNvPr id="7" name="Text 5"/>
          <p:cNvSpPr/>
          <p:nvPr/>
        </p:nvSpPr>
        <p:spPr>
          <a:xfrm>
            <a:off x="4705350" y="1982391"/>
            <a:ext cx="2851658" cy="66546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14213D"/>
                </a:solidFill>
                <a:latin typeface="Rubik" pitchFamily="34" charset="0"/>
                <a:ea typeface="Rubik" pitchFamily="34" charset="-122"/>
                <a:cs typeface="Rubik" pitchFamily="34" charset="-120"/>
              </a:rPr>
              <a:t>887,519</a:t>
            </a:r>
            <a:endParaRPr lang="en-US" sz="4800" dirty="0"/>
          </a:p>
        </p:txBody>
      </p:sp>
      <p:sp>
        <p:nvSpPr>
          <p:cNvPr id="8" name="Text 6"/>
          <p:cNvSpPr/>
          <p:nvPr/>
        </p:nvSpPr>
        <p:spPr>
          <a:xfrm>
            <a:off x="4705350" y="2698651"/>
            <a:ext cx="2851658"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4A5568"/>
                </a:solidFill>
                <a:latin typeface="DM Sans" pitchFamily="34" charset="0"/>
                <a:ea typeface="DM Sans" pitchFamily="34" charset="-122"/>
                <a:cs typeface="DM Sans" pitchFamily="34" charset="-120"/>
              </a:rPr>
              <a:t>active pilots of all certificate levels</a:t>
            </a:r>
            <a:endParaRPr lang="en-US" sz="1600" dirty="0"/>
          </a:p>
        </p:txBody>
      </p:sp>
      <p:sp>
        <p:nvSpPr>
          <p:cNvPr id="9" name="Shape 7"/>
          <p:cNvSpPr/>
          <p:nvPr/>
        </p:nvSpPr>
        <p:spPr>
          <a:xfrm>
            <a:off x="7991475" y="1674416"/>
            <a:ext cx="3384550" cy="1860451"/>
          </a:xfrm>
          <a:prstGeom prst="roundRect">
            <a:avLst>
              <a:gd name="adj" fmla="val 5290"/>
            </a:avLst>
          </a:prstGeom>
          <a:solidFill>
            <a:srgbClr val="FFFDF8"/>
          </a:solidFill>
          <a:ln w="6350">
            <a:solidFill>
              <a:srgbClr val="D9D5C8"/>
            </a:solidFill>
            <a:prstDash val="solid"/>
          </a:ln>
        </p:spPr>
        <p:txBody>
          <a:bodyPr/>
          <a:lstStyle/>
          <a:p>
            <a:endParaRPr lang="en-US"/>
          </a:p>
        </p:txBody>
      </p:sp>
      <p:sp>
        <p:nvSpPr>
          <p:cNvPr id="10" name="Text 8"/>
          <p:cNvSpPr/>
          <p:nvPr/>
        </p:nvSpPr>
        <p:spPr>
          <a:xfrm>
            <a:off x="8299450" y="1982391"/>
            <a:ext cx="2851658" cy="66546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14213D"/>
                </a:solidFill>
                <a:latin typeface="Rubik" pitchFamily="34" charset="0"/>
                <a:ea typeface="Rubik" pitchFamily="34" charset="-122"/>
                <a:cs typeface="Rubik" pitchFamily="34" charset="-120"/>
              </a:rPr>
              <a:t>+66%</a:t>
            </a:r>
            <a:endParaRPr lang="en-US" sz="4800" dirty="0"/>
          </a:p>
        </p:txBody>
      </p:sp>
      <p:sp>
        <p:nvSpPr>
          <p:cNvPr id="11" name="Text 9"/>
          <p:cNvSpPr/>
          <p:nvPr/>
        </p:nvSpPr>
        <p:spPr>
          <a:xfrm>
            <a:off x="8299450" y="2698651"/>
            <a:ext cx="2851658"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4A5568"/>
                </a:solidFill>
                <a:latin typeface="DM Sans" pitchFamily="34" charset="0"/>
                <a:ea typeface="DM Sans" pitchFamily="34" charset="-122"/>
                <a:cs typeface="DM Sans" pitchFamily="34" charset="-120"/>
              </a:rPr>
              <a:t>growth in student pilots since 2020, from 222,629</a:t>
            </a:r>
            <a:endParaRPr lang="en-US" sz="16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Source: AVweb (2026), reporting FAA U.S. Civil Airmen Statistics 2025. Growth rate calculated from the same figures.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1EA"/>
                </a:solidFill>
                <a:latin typeface="Rubik" pitchFamily="34" charset="0"/>
                <a:ea typeface="Rubik" pitchFamily="34" charset="-122"/>
                <a:cs typeface="Rubik" pitchFamily="34" charset="-120"/>
              </a:rPr>
              <a:t>Simple screens, few taps</a:t>
            </a:r>
            <a:endParaRPr lang="en-US" sz="3600" dirty="0"/>
          </a:p>
        </p:txBody>
      </p:sp>
      <p:pic>
        <p:nvPicPr>
          <p:cNvPr id="32" name="Picture 31">
            <a:extLst>
              <a:ext uri="{FF2B5EF4-FFF2-40B4-BE49-F238E27FC236}">
                <a16:creationId xmlns:a16="http://schemas.microsoft.com/office/drawing/2014/main" id="{73574E94-50B4-1FCE-41A6-6ECA48F69ACB}"/>
              </a:ext>
            </a:extLst>
          </p:cNvPr>
          <p:cNvPicPr>
            <a:picLocks noChangeAspect="1"/>
          </p:cNvPicPr>
          <p:nvPr/>
        </p:nvPicPr>
        <p:blipFill>
          <a:blip r:embed="rId3"/>
          <a:stretch>
            <a:fillRect/>
          </a:stretch>
        </p:blipFill>
        <p:spPr>
          <a:xfrm>
            <a:off x="6254496" y="1447800"/>
            <a:ext cx="2314066" cy="4703938"/>
          </a:xfrm>
          <a:prstGeom prst="rect">
            <a:avLst/>
          </a:prstGeom>
        </p:spPr>
      </p:pic>
      <p:pic>
        <p:nvPicPr>
          <p:cNvPr id="34" name="Picture 33">
            <a:extLst>
              <a:ext uri="{FF2B5EF4-FFF2-40B4-BE49-F238E27FC236}">
                <a16:creationId xmlns:a16="http://schemas.microsoft.com/office/drawing/2014/main" id="{14814768-7690-AF9D-8AA0-1A774FF54AEB}"/>
              </a:ext>
            </a:extLst>
          </p:cNvPr>
          <p:cNvPicPr>
            <a:picLocks noChangeAspect="1"/>
          </p:cNvPicPr>
          <p:nvPr/>
        </p:nvPicPr>
        <p:blipFill>
          <a:blip r:embed="rId4"/>
          <a:stretch>
            <a:fillRect/>
          </a:stretch>
        </p:blipFill>
        <p:spPr>
          <a:xfrm>
            <a:off x="8993250" y="1447800"/>
            <a:ext cx="2294117" cy="4703938"/>
          </a:xfrm>
          <a:prstGeom prst="rect">
            <a:avLst/>
          </a:prstGeom>
        </p:spPr>
      </p:pic>
      <p:pic>
        <p:nvPicPr>
          <p:cNvPr id="36" name="Picture 35">
            <a:extLst>
              <a:ext uri="{FF2B5EF4-FFF2-40B4-BE49-F238E27FC236}">
                <a16:creationId xmlns:a16="http://schemas.microsoft.com/office/drawing/2014/main" id="{04BDCC17-2C29-8E25-B559-E2FC07539312}"/>
              </a:ext>
            </a:extLst>
          </p:cNvPr>
          <p:cNvPicPr>
            <a:picLocks noChangeAspect="1"/>
          </p:cNvPicPr>
          <p:nvPr/>
        </p:nvPicPr>
        <p:blipFill>
          <a:blip r:embed="rId5"/>
          <a:stretch>
            <a:fillRect/>
          </a:stretch>
        </p:blipFill>
        <p:spPr>
          <a:xfrm>
            <a:off x="812800" y="1447800"/>
            <a:ext cx="2296160" cy="4639420"/>
          </a:xfrm>
          <a:prstGeom prst="rect">
            <a:avLst/>
          </a:prstGeom>
        </p:spPr>
      </p:pic>
      <p:pic>
        <p:nvPicPr>
          <p:cNvPr id="38" name="Picture 37">
            <a:extLst>
              <a:ext uri="{FF2B5EF4-FFF2-40B4-BE49-F238E27FC236}">
                <a16:creationId xmlns:a16="http://schemas.microsoft.com/office/drawing/2014/main" id="{867BE02D-FA11-EE90-58A5-7045BC79D6A8}"/>
              </a:ext>
            </a:extLst>
          </p:cNvPr>
          <p:cNvPicPr>
            <a:picLocks noChangeAspect="1"/>
          </p:cNvPicPr>
          <p:nvPr/>
        </p:nvPicPr>
        <p:blipFill>
          <a:blip r:embed="rId6"/>
          <a:stretch>
            <a:fillRect/>
          </a:stretch>
        </p:blipFill>
        <p:spPr>
          <a:xfrm>
            <a:off x="3533648" y="1447800"/>
            <a:ext cx="2296160" cy="47039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Built to work offline</a:t>
            </a:r>
            <a:endParaRPr lang="en-US" sz="3600" dirty="0"/>
          </a:p>
        </p:txBody>
      </p:sp>
      <p:sp>
        <p:nvSpPr>
          <p:cNvPr id="3" name="Text 1"/>
          <p:cNvSpPr/>
          <p:nvPr/>
        </p:nvSpPr>
        <p:spPr>
          <a:xfrm>
            <a:off x="812800" y="1620441"/>
            <a:ext cx="52324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Rubik" pitchFamily="34" charset="0"/>
                <a:ea typeface="Rubik" pitchFamily="34" charset="-122"/>
                <a:cs typeface="Rubik" pitchFamily="34" charset="-120"/>
              </a:rPr>
              <a:t>Stack</a:t>
            </a:r>
            <a:endParaRPr lang="en-US" sz="2000" dirty="0"/>
          </a:p>
        </p:txBody>
      </p:sp>
      <p:sp>
        <p:nvSpPr>
          <p:cNvPr id="4" name="Text 2"/>
          <p:cNvSpPr/>
          <p:nvPr/>
        </p:nvSpPr>
        <p:spPr>
          <a:xfrm>
            <a:off x="876808" y="2052241"/>
            <a:ext cx="5160772" cy="1244600"/>
          </a:xfrm>
          <a:prstGeom prst="rect">
            <a:avLst/>
          </a:prstGeom>
          <a:noFill/>
          <a:ln/>
        </p:spPr>
        <p:txBody>
          <a:bodyPr wrap="square" lIns="0" tIns="0" rIns="0" bIns="0" rtlCol="0" anchor="t">
            <a:normAutofit/>
          </a:bodyPr>
          <a:lstStyle/>
          <a:p>
            <a:pPr marL="189992" indent="-189992" algn="l">
              <a:lnSpc>
                <a:spcPts val="2400"/>
              </a:lnSpc>
              <a:buSzPct val="100000"/>
              <a:buChar char="•"/>
            </a:pPr>
            <a:r>
              <a:rPr lang="en-US" sz="1600" dirty="0">
                <a:solidFill>
                  <a:srgbClr val="4A5568"/>
                </a:solidFill>
                <a:latin typeface="DM Sans" pitchFamily="34" charset="0"/>
                <a:ea typeface="DM Sans" pitchFamily="34" charset="-122"/>
                <a:cs typeface="DM Sans" pitchFamily="34" charset="-120"/>
              </a:rPr>
              <a:t>Native Android app in Java</a:t>
            </a:r>
            <a:endParaRPr lang="en-US" sz="1600" dirty="0"/>
          </a:p>
          <a:p>
            <a:pPr marL="189992" indent="-189992" algn="l">
              <a:lnSpc>
                <a:spcPts val="2400"/>
              </a:lnSpc>
              <a:buSzPct val="100000"/>
              <a:buChar char="•"/>
            </a:pPr>
            <a:r>
              <a:rPr lang="en-US" sz="1600" dirty="0">
                <a:solidFill>
                  <a:srgbClr val="4A5568"/>
                </a:solidFill>
                <a:latin typeface="DM Sans" pitchFamily="34" charset="0"/>
                <a:ea typeface="DM Sans" pitchFamily="34" charset="-122"/>
                <a:cs typeface="DM Sans" pitchFamily="34" charset="-120"/>
              </a:rPr>
              <a:t>Activities and XML layouts</a:t>
            </a:r>
            <a:endParaRPr lang="en-US" sz="1600" dirty="0"/>
          </a:p>
          <a:p>
            <a:pPr marL="189992" indent="-189992" algn="l">
              <a:lnSpc>
                <a:spcPts val="2400"/>
              </a:lnSpc>
              <a:buSzPct val="100000"/>
              <a:buChar char="•"/>
            </a:pPr>
            <a:r>
              <a:rPr lang="en-US" sz="1600" dirty="0">
                <a:solidFill>
                  <a:srgbClr val="4A5568"/>
                </a:solidFill>
                <a:latin typeface="DM Sans" pitchFamily="34" charset="0"/>
                <a:ea typeface="DM Sans" pitchFamily="34" charset="-122"/>
                <a:cs typeface="DM Sans" pitchFamily="34" charset="-120"/>
              </a:rPr>
              <a:t>SQLite through SQLiteOpenHelper</a:t>
            </a:r>
            <a:endParaRPr lang="en-US" sz="1600" dirty="0"/>
          </a:p>
          <a:p>
            <a:pPr marL="189992" indent="-189992" algn="l">
              <a:lnSpc>
                <a:spcPts val="2400"/>
              </a:lnSpc>
              <a:buSzPct val="100000"/>
              <a:buChar char="•"/>
            </a:pPr>
            <a:r>
              <a:rPr lang="en-US" sz="1600" dirty="0">
                <a:solidFill>
                  <a:srgbClr val="4A5568"/>
                </a:solidFill>
                <a:latin typeface="DM Sans" pitchFamily="34" charset="0"/>
                <a:ea typeface="DM Sans" pitchFamily="34" charset="-122"/>
                <a:cs typeface="DM Sans" pitchFamily="34" charset="-120"/>
              </a:rPr>
              <a:t>No server or web service needed</a:t>
            </a:r>
            <a:endParaRPr lang="en-US" sz="1600" dirty="0"/>
          </a:p>
        </p:txBody>
      </p:sp>
      <p:sp>
        <p:nvSpPr>
          <p:cNvPr id="5" name="Text 3"/>
          <p:cNvSpPr/>
          <p:nvPr/>
        </p:nvSpPr>
        <p:spPr>
          <a:xfrm>
            <a:off x="6299200" y="1620441"/>
            <a:ext cx="52324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Rubik" pitchFamily="34" charset="0"/>
                <a:ea typeface="Rubik" pitchFamily="34" charset="-122"/>
                <a:cs typeface="Rubik" pitchFamily="34" charset="-120"/>
              </a:rPr>
              <a:t>Normalized data</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11900" y="2064941"/>
          <a:ext cx="5067300" cy="1543844"/>
        </p:xfrm>
        <a:graphic>
          <a:graphicData uri="http://schemas.openxmlformats.org/drawingml/2006/table">
            <a:tbl>
              <a:tblPr/>
              <a:tblGrid>
                <a:gridCol w="2026920">
                  <a:extLst>
                    <a:ext uri="{9D8B030D-6E8A-4147-A177-3AD203B41FA5}">
                      <a16:colId xmlns:a16="http://schemas.microsoft.com/office/drawing/2014/main" val="20000"/>
                    </a:ext>
                  </a:extLst>
                </a:gridCol>
                <a:gridCol w="3040380">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14213D"/>
                          </a:solidFill>
                          <a:latin typeface="DM Sans" pitchFamily="34" charset="0"/>
                          <a:ea typeface="DM Sans" pitchFamily="34" charset="-122"/>
                          <a:cs typeface="DM Sans" pitchFamily="34" charset="-120"/>
                        </a:rPr>
                        <a:t>Table</a:t>
                      </a:r>
                      <a:endParaRPr lang="en-US" sz="1400" dirty="0">
                        <a:latin typeface="DM Sans" charset="0"/>
                        <a:ea typeface="DM Sans" charset="0"/>
                        <a:cs typeface="DM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960"/>
                        </a:lnSpc>
                        <a:buNone/>
                      </a:pPr>
                      <a:r>
                        <a:rPr lang="en-US" sz="1400" b="1" dirty="0">
                          <a:solidFill>
                            <a:srgbClr val="14213D"/>
                          </a:solidFill>
                          <a:latin typeface="DM Sans" pitchFamily="34" charset="0"/>
                          <a:ea typeface="DM Sans" pitchFamily="34" charset="-122"/>
                          <a:cs typeface="DM Sans" pitchFamily="34" charset="-120"/>
                        </a:rPr>
                        <a:t>Holds</a:t>
                      </a:r>
                      <a:endParaRPr lang="en-US" sz="1400" dirty="0">
                        <a:latin typeface="DM Sans" charset="0"/>
                        <a:ea typeface="DM Sans" charset="0"/>
                        <a:cs typeface="DM Sans"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airports</a:t>
                      </a:r>
                      <a:endParaRPr lang="en-US" sz="1400" dirty="0">
                        <a:latin typeface="DM Sans" charset="0"/>
                        <a:ea typeface="DM Sans" charset="0"/>
                        <a:cs typeface="DM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One row per airport</a:t>
                      </a:r>
                      <a:endParaRPr lang="en-US" sz="1400" dirty="0">
                        <a:latin typeface="DM Sans" charset="0"/>
                        <a:ea typeface="DM Sans" charset="0"/>
                        <a:cs typeface="DM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runways</a:t>
                      </a:r>
                      <a:endParaRPr lang="en-US" sz="1400" dirty="0">
                        <a:latin typeface="DM Sans" charset="0"/>
                        <a:ea typeface="DM Sans" charset="0"/>
                        <a:cs typeface="DM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Many per airport</a:t>
                      </a:r>
                      <a:endParaRPr lang="en-US" sz="1400" dirty="0">
                        <a:latin typeface="DM Sans" charset="0"/>
                        <a:ea typeface="DM Sans" charset="0"/>
                        <a:cs typeface="DM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frequencies</a:t>
                      </a:r>
                      <a:endParaRPr lang="en-US" sz="1400" dirty="0">
                        <a:latin typeface="DM Sans" charset="0"/>
                        <a:ea typeface="DM Sans" charset="0"/>
                        <a:cs typeface="DM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Many per airport</a:t>
                      </a:r>
                      <a:endParaRPr lang="en-US" sz="1400" dirty="0">
                        <a:latin typeface="DM Sans" charset="0"/>
                        <a:ea typeface="DM Sans" charset="0"/>
                        <a:cs typeface="DM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Proposed schema. Field names may change during implementation.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144660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E8A33D"/>
                </a:solidFill>
                <a:latin typeface="DM Sans" pitchFamily="34" charset="0"/>
                <a:ea typeface="DM Sans" pitchFamily="34" charset="-122"/>
                <a:cs typeface="DM Sans" pitchFamily="34" charset="-120"/>
              </a:rPr>
              <a:t>NEXT STEPS</a:t>
            </a:r>
            <a:endParaRPr lang="en-US" sz="1400" dirty="0"/>
          </a:p>
        </p:txBody>
      </p:sp>
      <p:sp>
        <p:nvSpPr>
          <p:cNvPr id="3" name="Text 1"/>
          <p:cNvSpPr>
            <a:spLocks noGrp="1"/>
          </p:cNvSpPr>
          <p:nvPr>
            <p:ph type="title"/>
          </p:nvPr>
        </p:nvSpPr>
        <p:spPr>
          <a:xfrm>
            <a:off x="812800" y="1949450"/>
            <a:ext cx="9810750" cy="1366441"/>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3F1EA"/>
                </a:solidFill>
                <a:latin typeface="Rubik" pitchFamily="34" charset="0"/>
                <a:ea typeface="Rubik" pitchFamily="34" charset="-122"/>
                <a:cs typeface="Rubik" pitchFamily="34" charset="-120"/>
              </a:rPr>
              <a:t>Help PilotBuddy reach the cockpit</a:t>
            </a:r>
            <a:endParaRPr lang="en-US" sz="4800" dirty="0"/>
          </a:p>
        </p:txBody>
      </p:sp>
      <p:sp>
        <p:nvSpPr>
          <p:cNvPr id="4" name="Text 2"/>
          <p:cNvSpPr/>
          <p:nvPr/>
        </p:nvSpPr>
        <p:spPr>
          <a:xfrm>
            <a:off x="842010" y="3544491"/>
            <a:ext cx="9773920" cy="1168400"/>
          </a:xfrm>
          <a:prstGeom prst="rect">
            <a:avLst/>
          </a:prstGeom>
          <a:noFill/>
          <a:ln/>
        </p:spPr>
        <p:txBody>
          <a:bodyPr wrap="square" lIns="0" tIns="0" rIns="0" bIns="0" rtlCol="0" anchor="t">
            <a:normAutofit/>
          </a:bodyPr>
          <a:lstStyle/>
          <a:p>
            <a:pPr marL="224790" indent="-224790" algn="l">
              <a:lnSpc>
                <a:spcPts val="3000"/>
              </a:lnSpc>
              <a:buSzPct val="100000"/>
              <a:buChar char="•"/>
            </a:pPr>
            <a:r>
              <a:rPr lang="en-US" sz="2000" dirty="0">
                <a:solidFill>
                  <a:srgbClr val="C9D3E0"/>
                </a:solidFill>
                <a:latin typeface="DM Sans" pitchFamily="34" charset="0"/>
                <a:ea typeface="DM Sans" pitchFamily="34" charset="-122"/>
                <a:cs typeface="DM Sans" pitchFamily="34" charset="-120"/>
              </a:rPr>
              <a:t>Pilot testers to try the first build</a:t>
            </a:r>
            <a:endParaRPr lang="en-US" sz="2000" dirty="0"/>
          </a:p>
          <a:p>
            <a:pPr marL="224790" indent="-224790" algn="l">
              <a:lnSpc>
                <a:spcPts val="3000"/>
              </a:lnSpc>
              <a:buSzPct val="100000"/>
              <a:buChar char="•"/>
            </a:pPr>
            <a:r>
              <a:rPr lang="en-US" sz="2000" dirty="0">
                <a:solidFill>
                  <a:srgbClr val="C9D3E0"/>
                </a:solidFill>
                <a:latin typeface="DM Sans" pitchFamily="34" charset="0"/>
                <a:ea typeface="DM Sans" pitchFamily="34" charset="-122"/>
                <a:cs typeface="DM Sans" pitchFamily="34" charset="-120"/>
              </a:rPr>
              <a:t>Feedback on which tools matter most</a:t>
            </a:r>
            <a:endParaRPr lang="en-US" sz="2000" dirty="0"/>
          </a:p>
        </p:txBody>
      </p:sp>
      <p:sp>
        <p:nvSpPr>
          <p:cNvPr id="5" name="Text 3"/>
          <p:cNvSpPr/>
          <p:nvPr/>
        </p:nvSpPr>
        <p:spPr>
          <a:xfrm>
            <a:off x="812800" y="494149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0"/>
                </a:solidFill>
                <a:latin typeface="DM Sans" pitchFamily="34" charset="0"/>
                <a:ea typeface="DM Sans" pitchFamily="34" charset="-122"/>
                <a:cs typeface="DM Sans" pitchFamily="34" charset="-120"/>
              </a:rPr>
              <a:t>github.com/ChrisGonzalez72/PilotBuddy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References</a:t>
            </a:r>
            <a:endParaRPr lang="en-US" sz="3600" dirty="0"/>
          </a:p>
        </p:txBody>
      </p:sp>
      <p:sp>
        <p:nvSpPr>
          <p:cNvPr id="3" name="Text 1"/>
          <p:cNvSpPr/>
          <p:nvPr/>
        </p:nvSpPr>
        <p:spPr>
          <a:xfrm>
            <a:off x="812800" y="1620441"/>
            <a:ext cx="9810750"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14213D"/>
                </a:solidFill>
                <a:latin typeface="DM Sans" pitchFamily="34" charset="0"/>
                <a:ea typeface="DM Sans" pitchFamily="34" charset="-122"/>
                <a:cs typeface="DM Sans" pitchFamily="34" charset="-120"/>
              </a:rPr>
              <a:t>AVweb. (2026). </a:t>
            </a:r>
            <a:r>
              <a:rPr lang="en-US" sz="1600" i="1" dirty="0">
                <a:solidFill>
                  <a:srgbClr val="14213D"/>
                </a:solidFill>
                <a:latin typeface="DM Sans" pitchFamily="34" charset="0"/>
                <a:ea typeface="DM Sans" pitchFamily="34" charset="-122"/>
                <a:cs typeface="DM Sans" pitchFamily="34" charset="-120"/>
              </a:rPr>
              <a:t>FAA pilot population climbs again in 2025</a:t>
            </a:r>
            <a:r>
              <a:rPr lang="en-US" sz="1600" dirty="0">
                <a:solidFill>
                  <a:srgbClr val="14213D"/>
                </a:solidFill>
                <a:latin typeface="DM Sans" pitchFamily="34" charset="0"/>
                <a:ea typeface="DM Sans" pitchFamily="34" charset="-122"/>
                <a:cs typeface="DM Sans" pitchFamily="34" charset="-120"/>
              </a:rPr>
              <a:t>. https://avweb.com/aviation-news/faa-pilot-population-climbs-again-in-2025/</a:t>
            </a:r>
            <a:endParaRPr lang="en-US" sz="16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All other slide content is original to this project.</a:t>
            </a:r>
            <a:endParaRPr lang="en-US" sz="1200" dirty="0"/>
          </a:p>
        </p:txBody>
      </p:sp>
    </p:spTree>
  </p:cSld>
  <p:clrMapOvr>
    <a:masterClrMapping/>
  </p:clrMapOvr>
</p:sld>
</file>

<file path=ppt/theme/theme1.xml><?xml version="1.0" encoding="utf-8"?>
<a:theme xmlns:a="http://schemas.openxmlformats.org/drawingml/2006/main" name="PilotBuddy Investor Pitch">
  <a:themeElements>
    <a:clrScheme name="PilotBuddy Investor Pitch">
      <a:dk1>
        <a:srgbClr val="0F1B2D"/>
      </a:dk1>
      <a:lt1>
        <a:srgbClr val="F3F1EA"/>
      </a:lt1>
      <a:dk2>
        <a:srgbClr val="263040"/>
      </a:dk2>
      <a:lt2>
        <a:srgbClr val="BABCBB"/>
      </a:lt2>
      <a:accent1>
        <a:srgbClr val="E8A33D"/>
      </a:accent1>
      <a:accent2>
        <a:srgbClr val="4A5568"/>
      </a:accent2>
      <a:accent3>
        <a:srgbClr val="C9D3E0"/>
      </a:accent3>
      <a:accent4>
        <a:srgbClr val="9AA0A6"/>
      </a:accent4>
      <a:accent5>
        <a:srgbClr val="989B9E"/>
      </a:accent5>
      <a:accent6>
        <a:srgbClr val="767B82"/>
      </a:accent6>
      <a:hlink>
        <a:srgbClr val="0563C1"/>
      </a:hlink>
      <a:folHlink>
        <a:srgbClr val="954F72"/>
      </a:folHlink>
    </a:clrScheme>
    <a:fontScheme name="PilotBuddy Investor Pitch">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550</Words>
  <Application>Microsoft Macintosh PowerPoint</Application>
  <PresentationFormat>Widescreen</PresentationFormat>
  <Paragraphs>69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DM Sans</vt:lpstr>
      <vt:lpstr>Rubik</vt:lpstr>
      <vt:lpstr>PilotBuddy Investor Pitch</vt:lpstr>
      <vt:lpstr>PilotBuddy</vt:lpstr>
      <vt:lpstr>Pilots juggle too many tools</vt:lpstr>
      <vt:lpstr>One app, three tools</vt:lpstr>
      <vt:lpstr>A growing pilot population</vt:lpstr>
      <vt:lpstr>Simple screens, few taps</vt:lpstr>
      <vt:lpstr>Built to work offline</vt:lpstr>
      <vt:lpstr>Help PilotBuddy reach the cockpit</vt:lpstr>
      <vt:lpstr>References</vt:lpstr>
    </vt:vector>
  </TitlesOfParts>
  <Manager/>
  <Company>ATL Simulations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PilotBuddy Presentation</dc:title>
  <dc:subject/>
  <dc:creator>Christopher M. Gonzalez</dc:creator>
  <cp:keywords/>
  <dc:description/>
  <cp:lastModifiedBy>Christopher Gonzalez</cp:lastModifiedBy>
  <cp:revision>3</cp:revision>
  <dcterms:created xsi:type="dcterms:W3CDTF">2026-10-04T20:07:54Z</dcterms:created>
  <dcterms:modified xsi:type="dcterms:W3CDTF">2026-10-04T20:16:44Z</dcterms:modified>
  <cp:category/>
</cp:coreProperties>
</file>